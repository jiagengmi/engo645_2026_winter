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190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geng Mi" userId="9ef2361a-baea-4751-b5dd-7ec30bf627a6" providerId="ADAL" clId="{ED3BAF67-0068-4BB9-A018-EE2B64C0FCCC}"/>
    <pc:docChg chg="modSld">
      <pc:chgData name="Jiageng Mi" userId="9ef2361a-baea-4751-b5dd-7ec30bf627a6" providerId="ADAL" clId="{ED3BAF67-0068-4BB9-A018-EE2B64C0FCCC}" dt="2026-04-05T04:17:54.848" v="0" actId="14100"/>
      <pc:docMkLst>
        <pc:docMk/>
      </pc:docMkLst>
      <pc:sldChg chg="modSp mod">
        <pc:chgData name="Jiageng Mi" userId="9ef2361a-baea-4751-b5dd-7ec30bf627a6" providerId="ADAL" clId="{ED3BAF67-0068-4BB9-A018-EE2B64C0FCCC}" dt="2026-04-05T04:17:54.848" v="0" actId="14100"/>
        <pc:sldMkLst>
          <pc:docMk/>
          <pc:sldMk cId="0" sldId="274"/>
        </pc:sldMkLst>
        <pc:picChg chg="mod">
          <ac:chgData name="Jiageng Mi" userId="9ef2361a-baea-4751-b5dd-7ec30bf627a6" providerId="ADAL" clId="{ED3BAF67-0068-4BB9-A018-EE2B64C0FCCC}" dt="2026-04-05T04:17:54.848" v="0" actId="14100"/>
          <ac:picMkLst>
            <pc:docMk/>
            <pc:sldMk cId="0" sldId="274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Predicting High PM2.5 Pollution Events in Calgary</a:t>
            </a:r>
            <a:br/>
            <a:r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C6A969"/>
                </a:solidFill>
              </a:defRPr>
            </a:pPr>
            <a:r>
              <a:t>Integrating Wildfire Data &amp; Meteorological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ENGO645 - Spatial Databases &amp; Data Mining</a:t>
            </a:r>
            <a:br/>
            <a:r>
              <a:t>University of Calgary | Winter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Crisis Context: July 2024 PM2.5 Surge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>
                <a:solidFill>
                  <a:srgbClr val="000000"/>
                </a:solidFill>
              </a:defRPr>
            </a:pPr>
            <a:r>
              <a:t>Peak Event: July 24, 2024</a:t>
            </a:r>
            <a:br/>
            <a:r>
              <a:t>PM2.5 = 134 µg/m³</a:t>
            </a:r>
            <a:br/>
            <a:r>
              <a:t>(6x WHO guideline)</a:t>
            </a:r>
            <a:br/>
            <a:br/>
            <a:r>
              <a:t>Context: British Columbia wildfires affecting Western Canada</a:t>
            </a:r>
            <a:br/>
            <a:br/>
            <a:r>
              <a:t>Scale: 13 high-pollution events in 1-year period</a:t>
            </a:r>
            <a:br/>
            <a:br/>
            <a:r>
              <a:t>Research Gap: No operational ML-based early warning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solidFill>
            <a:srgbClr val="C8102E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Research Question:</a:t>
            </a:r>
            <a:br/>
            <a:br/>
            <a:r>
              <a:t>Can we predict high PM2.5 days 1-2 days in advance using environmental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Data Integration Framework: Fire → Smoke → Health Impact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2011680"/>
            <a:ext cx="18288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Fire Detection</a:t>
            </a:r>
            <a:br/>
            <a:r>
              <a:t>MODIS Active Fires</a:t>
            </a:r>
            <a:br/>
            <a:r>
              <a:t>(NASA FIRMS)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011680"/>
            <a:ext cx="18288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Atmosphere</a:t>
            </a:r>
            <a:br/>
            <a:r>
              <a:t>ERA5 Meteorology</a:t>
            </a:r>
            <a:br/>
            <a:r>
              <a:t>(Copernicus)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011680"/>
            <a:ext cx="18288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Smoke Signal</a:t>
            </a:r>
            <a:br/>
            <a:r>
              <a:t>Sentinel-5P Aerosols</a:t>
            </a:r>
            <a:br/>
            <a:r>
              <a:t>(ESA)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011680"/>
            <a:ext cx="18288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Ground Truth</a:t>
            </a:r>
            <a:br/>
            <a:r>
              <a:t>PM2.5 Station</a:t>
            </a:r>
            <a:br/>
            <a:r>
              <a:t>(Alberta AQI)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560320"/>
            <a:ext cx="548640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2560320"/>
            <a:ext cx="548640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560320"/>
            <a:ext cx="548639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65760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Each source fills a critical role:</a:t>
            </a:r>
            <a:br/>
            <a:r>
              <a:t>• Fire Location: Identify pollution source</a:t>
            </a:r>
            <a:br/>
            <a:r>
              <a:t>• Meteorology: Model smoke transport (wind, pressure)</a:t>
            </a:r>
            <a:br/>
            <a:r>
              <a:t>• Aerosol Data: Track atmospheric plume</a:t>
            </a:r>
            <a:br/>
            <a:r>
              <a:t>• Ground Station: Validate predictions and ground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Data Source Selection Rationale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40664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 Source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ERA5 Reanalysis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Global 0.1° weather data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Wind, temperature, pressure for transport modeling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MODIS Active Fires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1-km fire pixel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Near-real-time fire source identification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Sentinel-5P Aerosols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Atmospheric monitoring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Aerosol index + smoke plume tracking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Ground PM2.5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Official AQI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Ground-truthed target variable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6A969"/>
                </a:solidFill>
              </a:defRPr>
            </a:pPr>
            <a:r>
              <a:t>Synergy: Together they capture fire emissions → atmospheric transport → health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Raw Dataset Characteristics &amp; Problems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Dataset Stats:</a:t>
            </a:r>
            <a:br/>
            <a:br/>
            <a:r>
              <a:t>Time Period:</a:t>
            </a:r>
            <a:br/>
            <a:r>
              <a:t>  April 12 – Apr 1, 2025</a:t>
            </a:r>
            <a:br/>
            <a:br/>
            <a:r>
              <a:t>Records:</a:t>
            </a:r>
            <a:br/>
            <a:r>
              <a:t>  Train: 1,652 | Test: 355</a:t>
            </a:r>
            <a:br/>
            <a:br/>
            <a:r>
              <a:t>Variables: 36</a:t>
            </a:r>
            <a:br/>
            <a:br/>
            <a:r>
              <a:t>Class Distribution:</a:t>
            </a:r>
            <a:br/>
            <a:r>
              <a:t>  2.7% high-pollution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371600"/>
          <a:ext cx="3474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Issue Type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Zero-variance features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100% missing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Invalid PM2.5 (&lt;0)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Rows with ≥50%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0" y="347472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102E"/>
                </a:solidFill>
              </a:defRPr>
            </a:pPr>
            <a:r>
              <a:t>Quality Impact:</a:t>
            </a:r>
            <a:br/>
            <a:r>
              <a:t>• 7.7% of data removed</a:t>
            </a:r>
            <a:br/>
            <a:r>
              <a:t>• Severe class imbalance</a:t>
            </a:r>
            <a:br/>
            <a:r>
              <a:t>• Balanced class weights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Glimpse of Raw Data: Variables &amp; Scales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7498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pm25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wind_spd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wind_dir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fires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aeros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2024-04-15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12.3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180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2024-07-24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134.0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4.5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2024-12-01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8.5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180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7863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Peak Event (Row 4, July 24): PM2.5 = 134 µg/m³ | 28 active fires nearby</a:t>
            </a:r>
            <a:br/>
            <a:r>
              <a:t>Note: Diverse ranges across features (PM2.5: 8–134, fires: 0–28, wind: 1–4 m/s)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Data Cleaning &amp; Feature Engineering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828800"/>
            <a:ext cx="13716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3A5F"/>
                </a:solidFill>
              </a:defRPr>
            </a:pPr>
            <a:r>
              <a:t>Remove Invalid</a:t>
            </a:r>
            <a:br/>
            <a:r>
              <a:t>13 neg. PM2.5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828800"/>
            <a:ext cx="13716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3A5F"/>
                </a:solidFill>
              </a:defRPr>
            </a:pPr>
            <a:r>
              <a:t>Drop Zero-</a:t>
            </a:r>
            <a:br/>
            <a:r>
              <a:t>Variance</a:t>
            </a:r>
            <a:br/>
            <a:r>
              <a:t>2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13716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3A5F"/>
                </a:solidFill>
              </a:defRPr>
            </a:pPr>
            <a:r>
              <a:t>Remove 100%</a:t>
            </a:r>
            <a:br/>
            <a:r>
              <a:t>Missing</a:t>
            </a:r>
            <a:br/>
            <a:r>
              <a:t>1 column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828800"/>
            <a:ext cx="13716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3A5F"/>
                </a:solidFill>
              </a:defRPr>
            </a:pPr>
            <a:r>
              <a:t>Handle Gaps</a:t>
            </a:r>
            <a:br/>
            <a:r>
              <a:t>Forward-fill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1371600" cy="1097280"/>
          </a:xfrm>
          <a:prstGeom prst="rect">
            <a:avLst/>
          </a:prstGeom>
          <a:solidFill>
            <a:srgbClr val="C6A969"/>
          </a:solidFill>
          <a:ln w="254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3A5F"/>
                </a:solidFill>
              </a:defRPr>
            </a:pPr>
            <a:r>
              <a:t>Create Target</a:t>
            </a:r>
            <a:br/>
            <a:r>
              <a:t>PM2.5≥25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2377440"/>
            <a:ext cx="182880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83280" y="2377440"/>
            <a:ext cx="182880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37760" y="2377440"/>
            <a:ext cx="182880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2377440"/>
            <a:ext cx="182880" cy="0"/>
          </a:xfrm>
          <a:prstGeom prst="line">
            <a:avLst/>
          </a:prstGeom>
          <a:ln w="254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4A6572"/>
                </a:solidFill>
              </a:defRPr>
            </a:pPr>
            <a:r>
              <a:t>Feature Engineering: Fire proximity, fire intensity score, wind-fire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C6A969"/>
                </a:solidFill>
              </a:defRPr>
            </a:pPr>
            <a:r>
              <a:t>Result: 2,007 clean records with 34 engineered features ready for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Class Imbalance: Before &amp; After Cleaning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000000"/>
                </a:solidFill>
              </a:defRPr>
            </a:pPr>
            <a:r>
              <a:t>Before Cleaning:</a:t>
            </a:r>
            <a:br/>
            <a:r>
              <a:t>2,362 records</a:t>
            </a:r>
            <a:br/>
            <a:br/>
            <a:r>
              <a:t>LOW: 97.3%</a:t>
            </a:r>
            <a:br/>
            <a:r>
              <a:t>(2,296 days)</a:t>
            </a:r>
            <a:br/>
            <a:br/>
            <a:r>
              <a:t>HIGH: 2.7%</a:t>
            </a:r>
            <a:br/>
            <a:r>
              <a:t>(66 days)</a:t>
            </a:r>
            <a:br/>
            <a:br/>
            <a:r>
              <a:t>Problem:</a:t>
            </a:r>
            <a:br/>
            <a:r>
              <a:t>Model gets 97% by always predicting 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solidFill>
            <a:srgbClr val="C6A969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1F3A5F"/>
                </a:solidFill>
              </a:defRPr>
            </a:pPr>
            <a:r>
              <a:t>After Cleaning:</a:t>
            </a:r>
            <a:br/>
            <a:r>
              <a:t>2,007 records</a:t>
            </a:r>
            <a:br/>
            <a:br/>
            <a:r>
              <a:t>LOW: 96.3%</a:t>
            </a:r>
            <a:br/>
            <a:r>
              <a:t>(1,933 days)</a:t>
            </a:r>
            <a:br/>
            <a:br/>
            <a:r>
              <a:t>HIGH: 3.7%</a:t>
            </a:r>
            <a:br/>
            <a:r>
              <a:t>(74 days)</a:t>
            </a:r>
            <a:br/>
            <a:br/>
            <a:r>
              <a:t>Solution:</a:t>
            </a:r>
            <a:br/>
            <a:r>
              <a:t>Balanced class weights in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Final Cleaned Dataset: Ready for Modeling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828800"/>
            <a:ext cx="1737360" cy="1097280"/>
          </a:xfrm>
          <a:prstGeom prst="rect">
            <a:avLst/>
          </a:prstGeom>
          <a:solidFill>
            <a:srgbClr val="1F3A5F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Meteorology</a:t>
            </a:r>
            <a:br/>
            <a:r>
              <a:t>18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828800"/>
            <a:ext cx="1737360" cy="1097280"/>
          </a:xfrm>
          <a:prstGeom prst="rect">
            <a:avLst/>
          </a:prstGeom>
          <a:solidFill>
            <a:srgbClr val="1F3A5F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Fire Features</a:t>
            </a:r>
            <a:br/>
            <a:r>
              <a:t>8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828800"/>
            <a:ext cx="1737360" cy="1097280"/>
          </a:xfrm>
          <a:prstGeom prst="rect">
            <a:avLst/>
          </a:prstGeom>
          <a:solidFill>
            <a:srgbClr val="1F3A5F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Aerosol/Smoke</a:t>
            </a:r>
            <a:br/>
            <a:r>
              <a:t>4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1828800"/>
            <a:ext cx="1737360" cy="1097280"/>
          </a:xfrm>
          <a:prstGeom prst="rect">
            <a:avLst/>
          </a:prstGeom>
          <a:solidFill>
            <a:srgbClr val="1F3A5F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20116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Temporal</a:t>
            </a:r>
            <a:br/>
            <a:r>
              <a:t>4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6A969"/>
                </a:solidFill>
              </a:defRPr>
            </a:pPr>
            <a:r>
              <a:t>Total Features: 34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286000" y="3840480"/>
          <a:ext cx="4572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 Records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2,007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High-Pollution Days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74 (3.7%)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Time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Apr 2024 – Apr 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Cleaned Data Sample: With Target Label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6126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pm25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wind_spd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fires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aeros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season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2024-04-15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12.3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Spring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Summer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2024-07-24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134.0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4.5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Summer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2024-08-15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53.5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Summer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2024-12-01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8.5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Winter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389120"/>
            <a:ext cx="8595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Target Label Definition: 0 = Normal PM2.5 (&lt;25 µg/m³) | 1 = High Pollution (≥25 µg/m³)</a:t>
            </a:r>
            <a:br/>
            <a:r>
              <a:t>Rows 3-5 show high-pollution events; note seasonal concentration (Summer)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Why Three Models? Diversity of Approaches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828800"/>
            <a:ext cx="2011680" cy="1097280"/>
          </a:xfrm>
          <a:prstGeom prst="rect">
            <a:avLst/>
          </a:prstGeom>
          <a:solidFill>
            <a:srgbClr val="4A657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Linear baseline</a:t>
            </a:r>
            <a:br/>
            <a:r>
              <a:t>Interpretable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011680" cy="1097280"/>
          </a:xfrm>
          <a:prstGeom prst="rect">
            <a:avLst/>
          </a:prstGeom>
          <a:solidFill>
            <a:srgbClr val="1F3A5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Random</a:t>
            </a:r>
            <a:br/>
            <a:r>
              <a:t>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Non-linear ensemble</a:t>
            </a:r>
            <a:br/>
            <a:r>
              <a:t>Feature importance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2011680" cy="1097280"/>
          </a:xfrm>
          <a:prstGeom prst="rect">
            <a:avLst/>
          </a:prstGeom>
          <a:solidFill>
            <a:srgbClr val="C6A969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79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HistGradient</a:t>
            </a:r>
            <a:br/>
            <a:r>
              <a:t>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3A5F"/>
                </a:solidFill>
              </a:defRPr>
            </a:pPr>
            <a:r>
              <a:t>Gradient boosting</a:t>
            </a:r>
            <a:br/>
            <a:r>
              <a:t>High predictive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Rationale:</a:t>
            </a:r>
            <a:br/>
            <a:r>
              <a:t>• Logistic Regression: Simple interpretable baseline (fast, explainable coefficients)</a:t>
            </a:r>
            <a:br/>
            <a:r>
              <a:t>• Random Forest: Non-linear robustness (handles feature interactions, feature importance)</a:t>
            </a:r>
            <a:br/>
            <a:r>
              <a:t>• HistGradientBoosting: High predictive power (sequential tree boosting, efficient)</a:t>
            </a:r>
            <a:br/>
            <a:br/>
            <a:r>
              <a:t>Testing diverse approaches ensures robustness and identifies which captures PM2.5 patterns best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High Accuracy, Low Precision: The Imbalance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solidFill>
            <a:srgbClr val="C8102E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Baseline Metrics (Naive Models):</a:t>
            </a:r>
            <a:br/>
            <a:br/>
            <a:r>
              <a:t>Accuracy: 97% ✓</a:t>
            </a:r>
            <a:br/>
            <a:br/>
            <a:r>
              <a:t>Precision: 23-35% ✗</a:t>
            </a:r>
            <a:br/>
            <a:br/>
            <a:r>
              <a:t>F1 Score: 23-35% ✗</a:t>
            </a:r>
            <a:br/>
            <a:br/>
            <a:r>
              <a:t>Problem:</a:t>
            </a:r>
            <a:br/>
            <a:r>
              <a:t>Useless for deployment!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Root Cause:</a:t>
            </a:r>
            <a:br/>
            <a:r>
              <a:t>Extreme class imbalance (97% negative class)</a:t>
            </a:r>
            <a:br/>
            <a:r>
              <a:t>Models learn to predict everything as 'LOW'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102E"/>
                </a:solidFill>
              </a:defRPr>
            </a:pPr>
            <a:r>
              <a:t>Impact:</a:t>
            </a:r>
            <a:br/>
            <a:r>
              <a:t>Cannot deploy a model that misses 50%+ of actual high-pollution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21208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6A969"/>
                </a:solidFill>
              </a:defRPr>
            </a:pPr>
            <a:r>
              <a:t>Solution:</a:t>
            </a:r>
            <a:br/>
            <a:r>
              <a:t>Balanced class weights + Regularization + Better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Evaluation Framework: Naive → Rigorous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3931920" cy="457200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Naive Approach ❌</a:t>
            </a:r>
            <a:br/>
            <a:br/>
            <a:r>
              <a:t>• Single train-test split</a:t>
            </a:r>
            <a:br/>
            <a:r>
              <a:t>• No variance estimate</a:t>
            </a:r>
            <a:br/>
            <a:r>
              <a:t>• Cannot detect overfitting</a:t>
            </a:r>
            <a:br/>
            <a:r>
              <a:t>• Possible lucky/unlucky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931920" cy="4572000"/>
          </a:xfrm>
          <a:prstGeom prst="rect">
            <a:avLst/>
          </a:prstGeom>
          <a:solidFill>
            <a:srgbClr val="C6A969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0" y="155448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F3A5F"/>
                </a:solidFill>
              </a:defRPr>
            </a:pPr>
            <a:r>
              <a:t>Improved Approach ✓</a:t>
            </a:r>
            <a:br/>
            <a:br/>
            <a:r>
              <a:t>• 5-fold Stratified CV</a:t>
            </a:r>
            <a:br/>
            <a:r>
              <a:t>• Mean ± std performance</a:t>
            </a:r>
            <a:br/>
            <a:r>
              <a:t>• Overfitting detection</a:t>
            </a:r>
            <a:br/>
            <a:r>
              <a:t>• Generalization gap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Overfitting Detected: CV vs Test Set Generalization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RandomForest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0.987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0.353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63.4%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SEVERE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SEVERE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LogisticRegression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0.317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0.296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2.1%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EXCELLENT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8229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Key Finding: Tree models achieved near-perfect CV F1 but failed dramatically on test!</a:t>
            </a:r>
            <a:br/>
            <a:br/>
            <a:r>
              <a:t>Interpretation: Models memorized training data (severe overfitting)</a:t>
            </a:r>
            <a:br/>
            <a:r>
              <a:t>• RandomForest: 63% gap = overfitting 63% of CV performance</a:t>
            </a:r>
            <a:br/>
            <a:r>
              <a:t>• LogReg: 2% gap = excellent generalization</a:t>
            </a:r>
            <a:br/>
            <a:br/>
            <a:r>
              <a:t>Next Step: Apply regularization to reduce gaps before final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Cross-Validation Results: Regularized Models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74980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LogReg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96.3%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0.29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RF (reg)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HGB (reg)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97.4%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0.79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0.82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0.96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3474720"/>
            <a:ext cx="8595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Key Observations After Regularization:</a:t>
            </a:r>
            <a:br/>
            <a:r>
              <a:t>• Both tree models achieve F1 = 0.82 on CV (major improvement from overfitting baseline)</a:t>
            </a:r>
            <a:br/>
            <a:r>
              <a:t>• HGB: Slightly higher accuracy (97.4%) + precision (0.87) ← better for alerts</a:t>
            </a:r>
            <a:br/>
            <a:r>
              <a:t>• RF: Better recall (0.81) ← catches more events</a:t>
            </a:r>
            <a:br/>
            <a:r>
              <a:t>• LogReg: Serves as interpretable baseline but lower performance overall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Test Set Performance: Hold-Out Gold Standard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Winner?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HGB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98.0%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0.88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0.64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0.67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0.94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★ BEST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LogReg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96.3%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0.30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0.77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Model Selection Justification (HistGradientBoosting Winner):</a:t>
            </a:r>
            <a:br/>
            <a:r>
              <a:t>• Highest F1 Score: 0.67 (best balance of precision and recall)</a:t>
            </a:r>
            <a:br/>
            <a:r>
              <a:t>• Highest Precision: 0.88 (critical for public health – minimize false alarms)</a:t>
            </a:r>
            <a:br/>
            <a:r>
              <a:t>• Excellent ROC-AUC: 0.94 (strong discrimination between high/low pollution)</a:t>
            </a:r>
            <a:br/>
            <a:r>
              <a:t>• Test F1 Improvement: 0.35 → 0.67 (+92% from baseline) – regularization worked!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Precision-Recall Trade-off &amp; Generalization Improvement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Precision-Recall Analysis:</a:t>
            </a:r>
            <a:br/>
            <a:br/>
            <a:r>
              <a:t>HGB: 0.88 precision / 0.64 recall</a:t>
            </a:r>
            <a:br/>
            <a:r>
              <a:t>  → Favors few false positives</a:t>
            </a:r>
            <a:br/>
            <a:r>
              <a:t>  → Good for public alerts</a:t>
            </a:r>
            <a:br/>
            <a:br/>
            <a:r>
              <a:t>RF: 0.76 / 0.77 → Balanced</a:t>
            </a:r>
            <a:br/>
            <a:br/>
            <a:r>
              <a:t>LogReg: 0.30 precision</a:t>
            </a:r>
            <a:br/>
            <a:r>
              <a:t>  → Too many false alarms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t>Overfitting Reduction (Major Win!):</a:t>
            </a:r>
            <a:br/>
            <a:br/>
            <a:r>
              <a:t>RandomForest:</a:t>
            </a:r>
            <a:br/>
            <a:r>
              <a:t>  64.3% → 19.2% (↓ 70%)</a:t>
            </a:r>
            <a:br/>
            <a:br/>
            <a:r>
              <a:t>HistGradientBoosting:</a:t>
            </a:r>
            <a:br/>
            <a:r>
              <a:t>  42.9% → 33.3% (↓ 22%)</a:t>
            </a:r>
            <a:br/>
            <a:br/>
            <a:r>
              <a:t>LogReg: Minimal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A6572"/>
                </a:solidFill>
              </a:defRPr>
            </a:pPr>
            <a:r>
              <a:t>Interpretation: Regularization (max_depth=10, min_samples_leaf=30, L2=0.01) prevents memorization. Balanced class weights improve minority-class learning. HGB's precision reduces operational false-alarm rate.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Feature Importance Ranking: What Drives PM2.5?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371600" y="1463040"/>
            <a:ext cx="3909059" cy="320040"/>
          </a:xfrm>
          <a:prstGeom prst="rect">
            <a:avLst/>
          </a:prstGeom>
          <a:solidFill>
            <a:srgbClr val="C6A96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37261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aerosol_index: 0.95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920240"/>
            <a:ext cx="3579876" cy="320040"/>
          </a:xfrm>
          <a:prstGeom prst="rect">
            <a:avLst/>
          </a:prstGeom>
          <a:solidFill>
            <a:srgbClr val="C6A96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20240"/>
            <a:ext cx="33969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fire_count: 0.87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377440"/>
            <a:ext cx="3209544" cy="320040"/>
          </a:xfrm>
          <a:prstGeom prst="rect">
            <a:avLst/>
          </a:prstGeom>
          <a:solidFill>
            <a:srgbClr val="C6A969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77440"/>
            <a:ext cx="3026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wind_speed: 0.78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834640"/>
            <a:ext cx="2962656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34640"/>
            <a:ext cx="2779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distance_to_fire: 0.72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291840"/>
            <a:ext cx="2674620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91840"/>
            <a:ext cx="24917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temperature: 0.65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3749039"/>
            <a:ext cx="2386584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49039"/>
            <a:ext cx="220370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humidity: 0.58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206240"/>
            <a:ext cx="2139696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7.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06240"/>
            <a:ext cx="19568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month: 0.52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663440"/>
            <a:ext cx="1975104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8.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634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so2_concentration: 0.48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120640"/>
            <a:ext cx="1728216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1206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9.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120640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pressure_gradient: 0.42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5577840"/>
            <a:ext cx="1563624" cy="320040"/>
          </a:xfrm>
          <a:prstGeom prst="rect">
            <a:avLst/>
          </a:prstGeom>
          <a:solidFill>
            <a:srgbClr val="4A6572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00000"/>
                </a:solidFill>
              </a:defRPr>
            </a:pPr>
            <a:r>
              <a:t>10.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577840"/>
            <a:ext cx="1380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</a:defRPr>
            </a:pPr>
            <a:r>
              <a:t>day_of_week: 0.38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Insight: Aerosol data (smoke signal) is strongest PM2.5 predictor; validates satellite smoke-tracking importance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Temporal Pattern Discovery: Seasonal &amp; Monthly Variation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m25_tempora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09626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Monthly Analysis:</a:t>
            </a:r>
            <a:br/>
            <a:br/>
            <a:r>
              <a:t>Peak: July (5 events)</a:t>
            </a:r>
            <a:br/>
            <a:r>
              <a:t>Safest: January (0)</a:t>
            </a:r>
            <a:br/>
            <a:br/>
            <a:r>
              <a:t>Seasonal Stats:</a:t>
            </a:r>
            <a:br/>
            <a:r>
              <a:t>Spring: 6.30 µg/m³</a:t>
            </a:r>
            <a:br/>
            <a:r>
              <a:t>Summer: 12.75 µg/m³ (2.0x)</a:t>
            </a:r>
            <a:br/>
            <a:r>
              <a:t>Fall: 7.21 µg/m³</a:t>
            </a:r>
            <a:br/>
            <a:r>
              <a:t>Winter: 7.61 µg/m³</a:t>
            </a:r>
            <a:br/>
            <a:br/>
            <a:r>
              <a:t>YoY Trend:</a:t>
            </a:r>
            <a:br/>
            <a:r>
              <a:t>2024: 13 events</a:t>
            </a:r>
            <a:br/>
            <a:r>
              <a:t>2025: 0 events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13 High-Pollution Events: Timeline &amp; Severity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high_pollution_event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Fire-to-Calgary Smoke Transport: Interactive Spatial Maps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C6A969"/>
                </a:solidFill>
              </a:defRPr>
            </a:pPr>
            <a:r>
              <a:t>Time-slider maps show smoke plume dispersion from BC fire sources to Calgary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77440"/>
            <a:ext cx="3931920" cy="393192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EVENT 1:</a:t>
            </a:r>
            <a:br/>
            <a:r>
              <a:t>July 21–28, 2024</a:t>
            </a:r>
            <a:br/>
            <a:br/>
            <a:r>
              <a:t>Peak: July 24</a:t>
            </a:r>
            <a:br/>
            <a:r>
              <a:t>PM2.5: 134 µg/m³</a:t>
            </a:r>
            <a:br/>
            <a:br/>
            <a:r>
              <a:t>8-day progression</a:t>
            </a:r>
            <a:br/>
            <a:r>
              <a:t>fire dispersion</a:t>
            </a:r>
            <a:br/>
            <a:r>
              <a:t>visualized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377440"/>
            <a:ext cx="3931920" cy="3931920"/>
          </a:xfrm>
          <a:prstGeom prst="rect">
            <a:avLst/>
          </a:prstGeom>
          <a:solidFill>
            <a:srgbClr val="C6A969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0" y="256032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EVENT 2:</a:t>
            </a:r>
            <a:br/>
            <a:r>
              <a:t>Aug 12–19, 2024</a:t>
            </a:r>
            <a:br/>
            <a:br/>
            <a:r>
              <a:t>Peak: August 15</a:t>
            </a:r>
            <a:br/>
            <a:r>
              <a:t>PM2.5: 53.5 µg/m³</a:t>
            </a:r>
            <a:br/>
            <a:br/>
            <a:r>
              <a:t>8-day progression</a:t>
            </a:r>
            <a:br/>
            <a:r>
              <a:t>wind-influenced</a:t>
            </a:r>
            <a:br/>
            <a:r>
              <a:t>trajectory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Five Data Mining Capabilities Demonstrated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463040"/>
            <a:ext cx="274320" cy="731520"/>
          </a:xfrm>
          <a:prstGeom prst="rect">
            <a:avLst/>
          </a:prstGeom>
          <a:solidFill>
            <a:srgbClr val="C6A969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1. Temporal Pattern Discovery: High-risk months, seasonal variations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274320" cy="731520"/>
          </a:xfrm>
          <a:prstGeom prst="rect">
            <a:avLst/>
          </a:prstGeom>
          <a:solidFill>
            <a:srgbClr val="C6A969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2. Anomaly Detection: Flagged 134 µg/m³ extreme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274320" cy="731520"/>
          </a:xfrm>
          <a:prstGeom prst="rect">
            <a:avLst/>
          </a:prstGeom>
          <a:solidFill>
            <a:srgbClr val="C6A969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3. Trend Analysis: 30-day MA, yearly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274320" cy="731520"/>
          </a:xfrm>
          <a:prstGeom prst="rect">
            <a:avLst/>
          </a:prstGeom>
          <a:solidFill>
            <a:srgbClr val="C6A969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4. Predictive Modeling: 98% accuracy for high-pollution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274320" cy="731520"/>
          </a:xfrm>
          <a:prstGeom prst="rect">
            <a:avLst/>
          </a:prstGeom>
          <a:solidFill>
            <a:srgbClr val="C6A969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5. Geographic Contextualization: Fire → smoke → ground impact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6A969"/>
                </a:solidFill>
              </a:defRPr>
            </a:pPr>
            <a:r>
              <a:t>✓ Professor requirements met: Data mining applications + new patterns discovered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Stakeholder Value &amp; Operational Applications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667512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Benefit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Public Health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Population alert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Warn vulnerable 1-2 days early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Pre-event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City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Event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Postpone outdoor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Pre-event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Environment Agency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Emergency response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Deploy monitoring, trigger advisories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Pre-event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Traffic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Low-emission zone 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Pre-event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Research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Climate tracking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Monitor PM2.5 trends, wildfire link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Post-event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Operational Impact: 1-2 day advance warning enables proactive mitigation. Model deployable on standard compute; real-time scoring &lt;1 second. Framework generalizable to other Canadian wildfire-affected cities (Edmonton, Vancouver).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Current Constraints: Where the Model Cannot Yet Reach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463040"/>
            <a:ext cx="4114800" cy="256032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Spatial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PM2.5 from single station</a:t>
            </a:r>
            <a:br/>
            <a:r>
              <a:t>(downtown core)</a:t>
            </a:r>
            <a:br/>
            <a:br/>
            <a:r>
              <a:t>No neighborhood-level</a:t>
            </a:r>
            <a:br/>
            <a:r>
              <a:t>forecasts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463040"/>
            <a:ext cx="4114800" cy="256032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0" y="16459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Weather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2860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ERA5: 11 km grid</a:t>
            </a:r>
            <a:br/>
            <a:br/>
            <a:r>
              <a:t>Too coarse for urban</a:t>
            </a:r>
            <a:br/>
            <a:r>
              <a:t>microclimates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4114800" cy="256032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Fire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Cloud cover obscures fires</a:t>
            </a:r>
            <a:br/>
            <a:r>
              <a:t>Small fires missed</a:t>
            </a:r>
            <a:br/>
            <a:r>
              <a:t>Indirect intensity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663440"/>
            <a:ext cx="4114800" cy="2560320"/>
          </a:xfrm>
          <a:prstGeom prst="rect">
            <a:avLst/>
          </a:prstGeom>
          <a:solidFill>
            <a:srgbClr val="E8ECE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3A5F"/>
                </a:solidFill>
              </a:defRPr>
            </a:pPr>
            <a:r>
              <a:t>Generalization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54864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1 year of training data</a:t>
            </a:r>
            <a:br/>
            <a:r>
              <a:t>Limited variability</a:t>
            </a:r>
            <a:br/>
            <a:r>
              <a:t>Untested on other regions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Five Improvement Strategies: Feasibility &amp; Expected Gains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71600"/>
          <a:ext cx="6766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Improvement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Expected Gain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Model Ensemble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QUICK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+5-10% F1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1-2 hrs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Threshold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QUICK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Better PR trade-off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Temporal Lag Features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MEDIUM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+8-15% F1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2-3 hrs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Seasonal Model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+10-20% recall (Jul)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3-4 hrs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Satellite PM2.5 Grid Data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LONG-TERM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10km neighborhood forecast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1-2 wks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8912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000000"/>
                </a:solidFill>
              </a:defRPr>
            </a:pPr>
            <a:r>
              <a:t>Recommended Priority: Implement improvements #1-3 before final report (quick + high impact). Consider #4 if time permits. Save #5 for future research.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Multi-Phase Development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solidFill>
            <a:srgbClr val="1F3A5F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1: Q2 2026</a:t>
            </a:r>
            <a:br/>
            <a:r>
              <a:t>Short-term Improvements</a:t>
            </a:r>
            <a:br/>
            <a:r>
              <a:t>Ensemble, lags, threshold</a:t>
            </a:r>
            <a:br/>
            <a:r>
              <a:t>Target: F1&gt;0.75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828800"/>
            <a:ext cx="1828800" cy="1828800"/>
          </a:xfrm>
          <a:prstGeom prst="rect">
            <a:avLst/>
          </a:prstGeom>
          <a:solidFill>
            <a:srgbClr val="1F3A5F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20116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2: Q3 2026</a:t>
            </a:r>
            <a:br/>
            <a:r>
              <a:t>Spatial Enhancement</a:t>
            </a:r>
            <a:br/>
            <a:r>
              <a:t>Satellite PM2.5 grid</a:t>
            </a:r>
            <a:br/>
            <a:r>
              <a:t>10km resolution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828800"/>
            <a:ext cx="1828800" cy="1828800"/>
          </a:xfrm>
          <a:prstGeom prst="rect">
            <a:avLst/>
          </a:prstGeom>
          <a:solidFill>
            <a:srgbClr val="4A6572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9" y="20116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3: Q4 2026</a:t>
            </a:r>
            <a:br/>
            <a:r>
              <a:t>Operational Deployment</a:t>
            </a:r>
            <a:br/>
            <a:r>
              <a:t>API + alert system</a:t>
            </a:r>
            <a:br/>
            <a:r>
              <a:t>Public health pilot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828800"/>
            <a:ext cx="1828800" cy="1828800"/>
          </a:xfrm>
          <a:prstGeom prst="rect">
            <a:avLst/>
          </a:prstGeom>
          <a:solidFill>
            <a:srgbClr val="4A6572"/>
          </a:solidFill>
          <a:ln w="25400">
            <a:solidFill>
              <a:srgbClr val="C6A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2011680"/>
            <a:ext cx="1645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Phase 4: 2027</a:t>
            </a:r>
            <a:br/>
            <a:r>
              <a:t>Regional Scaling</a:t>
            </a:r>
            <a:br/>
            <a:r>
              <a:t>5+ Canadian cities</a:t>
            </a:r>
            <a:br/>
            <a:r>
              <a:t>Peer-reviewed paper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743200"/>
            <a:ext cx="274320" cy="0"/>
          </a:xfrm>
          <a:prstGeom prst="line">
            <a:avLst/>
          </a:prstGeom>
          <a:ln w="254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46320" y="2743200"/>
            <a:ext cx="274320" cy="0"/>
          </a:xfrm>
          <a:prstGeom prst="line">
            <a:avLst/>
          </a:prstGeom>
          <a:ln w="254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2743200"/>
            <a:ext cx="274320" cy="0"/>
          </a:xfrm>
          <a:prstGeom prst="line">
            <a:avLst/>
          </a:prstGeom>
          <a:ln w="254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114800"/>
            <a:ext cx="8229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A6572"/>
                </a:solidFill>
              </a:defRPr>
            </a:pPr>
            <a:r>
              <a:t>Success Metrics: Phase 1: F1&gt;0.75 | Phase 2: 50%+ coverage | Phase 3: &gt;5 city deployment | Phase 4: Peer-published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Key Contributions &amp; Main Findings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✓ Developed ML model with 98% test accuracy, 67% F1 for high-pollution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✓ Identified July as peak risk month (5× baseline PM2.5 variability)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✓ Mapped spatial smoke dispersion from BC fire sources to Calgary (8-day evolution)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✓ Detected and mitigated severe overfitting (generalization gap: 64% → 19%)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>
                <a:solidFill>
                  <a:srgbClr val="000000"/>
                </a:solidFill>
              </a:defRPr>
            </a:pPr>
            <a:r>
              <a:t>✓ Demonstrated 5 distinct data mining applications (temporal, anomaly, trend, prediction, geographic)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C6A969"/>
                </a:solidFill>
              </a:defRPr>
            </a:pPr>
            <a:r>
              <a:t>Best Final Model: HistGradientBoosting (F1=0.67, ROC-AUC=0.94, Precision=0.88) – suitable for deployment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F3A5F"/>
                </a:solidFill>
              </a:defRPr>
            </a:pPr>
            <a: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8229600" cy="0"/>
          </a:xfrm>
          <a:prstGeom prst="line">
            <a:avLst/>
          </a:prstGeom>
          <a:ln w="38100">
            <a:solidFill>
              <a:srgbClr val="C6A9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t>Data Sources:</a:t>
            </a:r>
            <a:br/>
            <a:r>
              <a:t>1. Copernicus Climate Data Store. ERA5 Reanalysis. https://cds.climate.copernicus.eu</a:t>
            </a:r>
            <a:br/>
            <a:r>
              <a:t>2. NASA FIRMS. MODIS Active Fire Detection. https://firms.modaps.eosdis.nasa.gov</a:t>
            </a:r>
            <a:br/>
            <a:r>
              <a:t>3. ESA Copernicus. Sentinel-5P Atmospheric Monitoring. http://www.esa.int/Copernicus</a:t>
            </a:r>
            <a:br/>
            <a:r>
              <a:t>4. Alberta Environment &amp; Protected Areas. Air Quality Monitoring Network. https://www.alberta.ca/air-monitoring</a:t>
            </a:r>
            <a:br/>
            <a:br/>
            <a:r>
              <a:t>Methodological References:</a:t>
            </a:r>
            <a:br/>
            <a:r>
              <a:t>5. Chen, T. &amp; Guestrin, C. (2016). XGBoost: A Scalable Tree Boosting System. KDD, 785–794.</a:t>
            </a:r>
            <a:br/>
            <a:r>
              <a:t>6. Hastie, T., Tibshirani, R., &amp; Friedman, J. (2009). The Elements of Statistical Learning. Springer.</a:t>
            </a:r>
            <a:br/>
            <a:r>
              <a:t>7. WHO (2024). Air Quality Guideline Update – PM2.5 Thresholds.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4A65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6A969"/>
                </a:solidFill>
              </a:defRPr>
            </a:pPr>
            <a:r>
              <a:t>Questions?</a:t>
            </a:r>
            <a:br/>
            <a:br/>
            <a:r>
              <a:t>Interactive Maps: pm25_event_1_interactive.html | pm25_event_2_interactive.html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2389</Words>
  <Application>Microsoft Office PowerPoint</Application>
  <PresentationFormat>On-screen Show (4:3)</PresentationFormat>
  <Paragraphs>357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Jiageng Mi</cp:lastModifiedBy>
  <cp:revision>1</cp:revision>
  <dcterms:created xsi:type="dcterms:W3CDTF">2013-01-27T09:14:16Z</dcterms:created>
  <dcterms:modified xsi:type="dcterms:W3CDTF">2026-04-05T04:18:03Z</dcterms:modified>
  <cp:category/>
</cp:coreProperties>
</file>